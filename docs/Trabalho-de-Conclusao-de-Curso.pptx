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4882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66770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2750280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3410910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179560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680877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655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9361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4336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711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324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1218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81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5903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088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1420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9238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9304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68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7463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4163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060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428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883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554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3235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0103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829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5053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958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9814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6411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5717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792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606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850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9304068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69248809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919964406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media1.svg"/><Relationship Id="rId5" Type="http://schemas.openxmlformats.org/officeDocument/2006/relationships/image" Target="../media/image6.png"/><Relationship Id="rId6" Type="http://schemas.openxmlformats.org/officeDocument/2006/relationships/image" Target="../media/media2.svg"/><Relationship Id="rId7" Type="http://schemas.openxmlformats.org/officeDocument/2006/relationships/image" Target="../media/image7.png"/><Relationship Id="rId8" Type="http://schemas.openxmlformats.org/officeDocument/2006/relationships/image" Target="../media/media3.svg"/><Relationship Id="rId9" Type="http://schemas.openxmlformats.org/officeDocument/2006/relationships/image" Target="../media/image8.png"/><Relationship Id="rId10" Type="http://schemas.openxmlformats.org/officeDocument/2006/relationships/image" Target="../media/media4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media5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media6.sv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455097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2030393606" name="Text 0"/>
          <p:cNvSpPr/>
          <p:nvPr/>
        </p:nvSpPr>
        <p:spPr bwMode="auto">
          <a:xfrm>
            <a:off x="3925119" y="152846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Trabalho de Conclusão de Curso</a:t>
            </a:r>
            <a:endParaRPr lang="en-US" sz="2750"/>
          </a:p>
        </p:txBody>
      </p:sp>
      <p:sp>
        <p:nvSpPr>
          <p:cNvPr id="1582559147" name="Text 1"/>
          <p:cNvSpPr/>
          <p:nvPr/>
        </p:nvSpPr>
        <p:spPr bwMode="auto">
          <a:xfrm>
            <a:off x="3925119" y="2627040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  <a:defRPr/>
            </a:pPr>
            <a:r>
              <a:rPr lang="en-US" sz="1100" b="1">
                <a:solidFill>
                  <a:srgbClr val="E5E0DF"/>
                </a:solidFill>
                <a:latin typeface="Roboto Bold"/>
                <a:ea typeface="Roboto Bold"/>
                <a:cs typeface="Roboto Bold"/>
              </a:rPr>
              <a:t>Stack Fullstack com Docker Compose, CI/CD e Monitoramento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Universidade do Estado do Amazonas — UEA</a:t>
            </a:r>
            <a:endParaRPr lang="en-US" sz="1100"/>
          </a:p>
        </p:txBody>
      </p:sp>
      <p:sp>
        <p:nvSpPr>
          <p:cNvPr id="1224711421" name="Shape 2"/>
          <p:cNvSpPr/>
          <p:nvPr/>
        </p:nvSpPr>
        <p:spPr bwMode="auto">
          <a:xfrm>
            <a:off x="3925119" y="3399606"/>
            <a:ext cx="1158627" cy="215354"/>
          </a:xfrm>
          <a:prstGeom prst="roundRect">
            <a:avLst>
              <a:gd name="adj" fmla="val 47398"/>
            </a:avLst>
          </a:prstGeom>
          <a:solidFill>
            <a:srgbClr val="4B1E01"/>
          </a:solidFill>
          <a:ln/>
        </p:spPr>
      </p:sp>
      <p:sp>
        <p:nvSpPr>
          <p:cNvPr id="812921455" name="Text 3"/>
          <p:cNvSpPr/>
          <p:nvPr/>
        </p:nvSpPr>
        <p:spPr bwMode="auto">
          <a:xfrm>
            <a:off x="4010174" y="3442097"/>
            <a:ext cx="14457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  <a:defRPr/>
            </a:pP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HUB UEA - DENKEN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350864" name="Text 0"/>
          <p:cNvSpPr/>
          <p:nvPr/>
        </p:nvSpPr>
        <p:spPr bwMode="auto">
          <a:xfrm>
            <a:off x="496119" y="401762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15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Visão Geral do Projeto</a:t>
            </a:r>
            <a:endParaRPr lang="en-US" sz="2150"/>
          </a:p>
        </p:txBody>
      </p:sp>
      <p:pic>
        <p:nvPicPr>
          <p:cNvPr id="40939320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6119" y="974973"/>
            <a:ext cx="5204073" cy="2948955"/>
          </a:xfrm>
          <a:prstGeom prst="rect">
            <a:avLst/>
          </a:prstGeom>
        </p:spPr>
      </p:pic>
      <p:sp>
        <p:nvSpPr>
          <p:cNvPr id="610506203" name="Text 1"/>
          <p:cNvSpPr/>
          <p:nvPr/>
        </p:nvSpPr>
        <p:spPr bwMode="auto">
          <a:xfrm>
            <a:off x="5975077" y="1811238"/>
            <a:ext cx="267749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 projeto </a:t>
            </a:r>
            <a:r>
              <a:rPr lang="en-US" sz="850" b="1">
                <a:solidFill>
                  <a:srgbClr val="E5E0DF"/>
                </a:solidFill>
                <a:latin typeface="Roboto Bold"/>
                <a:ea typeface="Roboto Bold"/>
                <a:cs typeface="Roboto Bold"/>
              </a:rPr>
              <a:t>sobre práticas avançadas Full-Stack</a:t>
            </a: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demonstra uma aplicação web completa com arquitetura moderna, containerizada e automatizada. O repositório organiza o código em duas pastas principais — </a:t>
            </a:r>
            <a:r>
              <a:rPr lang="en-US" sz="85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backend/</a:t>
            </a: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e </a:t>
            </a:r>
            <a:r>
              <a:rPr lang="en-US" sz="85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frontend/</a:t>
            </a: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— cada uma com seu próprio </a:t>
            </a:r>
            <a:r>
              <a:rPr lang="en-US" sz="85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Dockerfile</a:t>
            </a: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, além de um </a:t>
            </a:r>
            <a:r>
              <a:rPr lang="en-US" sz="85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docker-compose.yml</a:t>
            </a: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na raiz para orquestrar todos os serviços.</a:t>
            </a:r>
            <a:endParaRPr lang="en-US" sz="850"/>
          </a:p>
        </p:txBody>
      </p:sp>
      <p:sp>
        <p:nvSpPr>
          <p:cNvPr id="1286343257" name="Shape 2"/>
          <p:cNvSpPr/>
          <p:nvPr/>
        </p:nvSpPr>
        <p:spPr bwMode="auto">
          <a:xfrm>
            <a:off x="496119" y="4118595"/>
            <a:ext cx="2659559" cy="623143"/>
          </a:xfrm>
          <a:prstGeom prst="roundRect">
            <a:avLst>
              <a:gd name="adj" fmla="val 15996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897689595" name="Text 3"/>
          <p:cNvSpPr/>
          <p:nvPr/>
        </p:nvSpPr>
        <p:spPr bwMode="auto">
          <a:xfrm>
            <a:off x="616372" y="4238848"/>
            <a:ext cx="241905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Backend</a:t>
            </a:r>
            <a:endParaRPr lang="en-US" sz="1050"/>
          </a:p>
        </p:txBody>
      </p:sp>
      <p:sp>
        <p:nvSpPr>
          <p:cNvPr id="1881126601" name="Text 4"/>
          <p:cNvSpPr/>
          <p:nvPr/>
        </p:nvSpPr>
        <p:spPr bwMode="auto">
          <a:xfrm>
            <a:off x="616372" y="4463728"/>
            <a:ext cx="24190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API REST com Node.js</a:t>
            </a:r>
            <a:endParaRPr lang="en-US" sz="850"/>
          </a:p>
        </p:txBody>
      </p:sp>
      <p:sp>
        <p:nvSpPr>
          <p:cNvPr id="609841859" name="Shape 5"/>
          <p:cNvSpPr/>
          <p:nvPr/>
        </p:nvSpPr>
        <p:spPr bwMode="auto">
          <a:xfrm>
            <a:off x="3242146" y="4118595"/>
            <a:ext cx="2659633" cy="623143"/>
          </a:xfrm>
          <a:prstGeom prst="roundRect">
            <a:avLst>
              <a:gd name="adj" fmla="val 15996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407651076" name="Text 6"/>
          <p:cNvSpPr/>
          <p:nvPr/>
        </p:nvSpPr>
        <p:spPr bwMode="auto">
          <a:xfrm>
            <a:off x="3362399" y="4238848"/>
            <a:ext cx="241912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Frontend</a:t>
            </a:r>
            <a:endParaRPr lang="en-US" sz="1050"/>
          </a:p>
        </p:txBody>
      </p:sp>
      <p:sp>
        <p:nvSpPr>
          <p:cNvPr id="1731172838" name="Text 7"/>
          <p:cNvSpPr/>
          <p:nvPr/>
        </p:nvSpPr>
        <p:spPr bwMode="auto">
          <a:xfrm>
            <a:off x="3362399" y="4463728"/>
            <a:ext cx="241912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Interface React</a:t>
            </a:r>
            <a:endParaRPr lang="en-US" sz="850"/>
          </a:p>
        </p:txBody>
      </p:sp>
      <p:sp>
        <p:nvSpPr>
          <p:cNvPr id="2098337222" name="Shape 8"/>
          <p:cNvSpPr/>
          <p:nvPr/>
        </p:nvSpPr>
        <p:spPr bwMode="auto">
          <a:xfrm>
            <a:off x="5988248" y="4118595"/>
            <a:ext cx="2659559" cy="623143"/>
          </a:xfrm>
          <a:prstGeom prst="roundRect">
            <a:avLst>
              <a:gd name="adj" fmla="val 15996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220454343" name="Text 9"/>
          <p:cNvSpPr/>
          <p:nvPr/>
        </p:nvSpPr>
        <p:spPr bwMode="auto">
          <a:xfrm>
            <a:off x="6108502" y="4238848"/>
            <a:ext cx="241905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Infra</a:t>
            </a:r>
            <a:endParaRPr lang="en-US" sz="1050"/>
          </a:p>
        </p:txBody>
      </p:sp>
      <p:sp>
        <p:nvSpPr>
          <p:cNvPr id="1308814880" name="Text 10"/>
          <p:cNvSpPr/>
          <p:nvPr/>
        </p:nvSpPr>
        <p:spPr bwMode="auto">
          <a:xfrm>
            <a:off x="6108502" y="4463728"/>
            <a:ext cx="24190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  <a:defRPr/>
            </a:pPr>
            <a:r>
              <a:rPr lang="en-US" sz="8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Docker + GitHub Actions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600903" name="Text 0"/>
          <p:cNvSpPr/>
          <p:nvPr/>
        </p:nvSpPr>
        <p:spPr bwMode="auto">
          <a:xfrm>
            <a:off x="496119" y="77502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Stack Tecnológica</a:t>
            </a:r>
            <a:endParaRPr lang="en-US" sz="2750"/>
          </a:p>
        </p:txBody>
      </p:sp>
      <p:pic>
        <p:nvPicPr>
          <p:cNvPr id="1598756414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1634470643" name="Text 1"/>
          <p:cNvSpPr/>
          <p:nvPr/>
        </p:nvSpPr>
        <p:spPr bwMode="auto">
          <a:xfrm>
            <a:off x="496119" y="203306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Backend</a:t>
            </a:r>
            <a:endParaRPr lang="en-US" sz="1350"/>
          </a:p>
        </p:txBody>
      </p:sp>
      <p:sp>
        <p:nvSpPr>
          <p:cNvPr id="1344637056" name="Text 2"/>
          <p:cNvSpPr/>
          <p:nvPr/>
        </p:nvSpPr>
        <p:spPr bwMode="auto"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pt-BR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Web API escrita em .NET 8.0</a:t>
            </a: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e documentados via README.</a:t>
            </a:r>
            <a:endParaRPr lang="en-US" sz="1100"/>
          </a:p>
        </p:txBody>
      </p:sp>
      <p:pic>
        <p:nvPicPr>
          <p:cNvPr id="826528131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131909133" name="Text 3"/>
          <p:cNvSpPr/>
          <p:nvPr/>
        </p:nvSpPr>
        <p:spPr bwMode="auto">
          <a:xfrm>
            <a:off x="4660553" y="203306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Frontend</a:t>
            </a:r>
            <a:endParaRPr lang="en-US" sz="1350"/>
          </a:p>
        </p:txBody>
      </p:sp>
      <p:sp>
        <p:nvSpPr>
          <p:cNvPr id="682044708" name="Text 4"/>
          <p:cNvSpPr/>
          <p:nvPr/>
        </p:nvSpPr>
        <p:spPr bwMode="auto"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React com estrutura de componentes reutilizáveis e consumo da API via fetch/axios.</a:t>
            </a:r>
            <a:endParaRPr lang="en-US" sz="1100"/>
          </a:p>
        </p:txBody>
      </p:sp>
      <p:pic>
        <p:nvPicPr>
          <p:cNvPr id="1140178658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496119" y="3076723"/>
            <a:ext cx="354360" cy="354360"/>
          </a:xfrm>
          <a:prstGeom prst="rect">
            <a:avLst/>
          </a:prstGeom>
        </p:spPr>
      </p:pic>
      <p:sp>
        <p:nvSpPr>
          <p:cNvPr id="910619673" name="Text 5"/>
          <p:cNvSpPr/>
          <p:nvPr/>
        </p:nvSpPr>
        <p:spPr bwMode="auto">
          <a:xfrm>
            <a:off x="496119" y="360826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Docker</a:t>
            </a:r>
            <a:endParaRPr lang="en-US" sz="1350"/>
          </a:p>
        </p:txBody>
      </p:sp>
      <p:sp>
        <p:nvSpPr>
          <p:cNvPr id="1161252968" name="Text 6"/>
          <p:cNvSpPr/>
          <p:nvPr/>
        </p:nvSpPr>
        <p:spPr bwMode="auto"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Containerização completa com Dockerfile individual por serviço e orquestração via Compose.</a:t>
            </a:r>
            <a:endParaRPr lang="en-US" sz="1100"/>
          </a:p>
        </p:txBody>
      </p:sp>
      <p:pic>
        <p:nvPicPr>
          <p:cNvPr id="905404020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4660553" y="3076723"/>
            <a:ext cx="354360" cy="354360"/>
          </a:xfrm>
          <a:prstGeom prst="rect">
            <a:avLst/>
          </a:prstGeom>
        </p:spPr>
      </p:pic>
      <p:sp>
        <p:nvSpPr>
          <p:cNvPr id="739765626" name="Text 7"/>
          <p:cNvSpPr/>
          <p:nvPr/>
        </p:nvSpPr>
        <p:spPr bwMode="auto">
          <a:xfrm>
            <a:off x="4660553" y="360826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CI/CD</a:t>
            </a:r>
            <a:endParaRPr lang="en-US" sz="1350"/>
          </a:p>
        </p:txBody>
      </p:sp>
      <p:sp>
        <p:nvSpPr>
          <p:cNvPr id="1632357866" name="Text 8"/>
          <p:cNvSpPr/>
          <p:nvPr/>
        </p:nvSpPr>
        <p:spPr bwMode="auto"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Pipelines automatizados no GitHub Actions para build, teste e deploy contínuo.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375218" name="Text 0"/>
          <p:cNvSpPr/>
          <p:nvPr/>
        </p:nvSpPr>
        <p:spPr bwMode="auto">
          <a:xfrm>
            <a:off x="496119" y="394915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0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Estrutura do Repositório</a:t>
            </a:r>
            <a:endParaRPr lang="en-US" sz="2000"/>
          </a:p>
        </p:txBody>
      </p:sp>
      <p:pic>
        <p:nvPicPr>
          <p:cNvPr id="6154998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6119" y="905470"/>
            <a:ext cx="5211589" cy="2953196"/>
          </a:xfrm>
          <a:prstGeom prst="rect">
            <a:avLst/>
          </a:prstGeom>
        </p:spPr>
      </p:pic>
      <p:sp>
        <p:nvSpPr>
          <p:cNvPr id="520765643" name="Text 1"/>
          <p:cNvSpPr/>
          <p:nvPr/>
        </p:nvSpPr>
        <p:spPr bwMode="auto">
          <a:xfrm>
            <a:off x="5961013" y="2242021"/>
            <a:ext cx="2691557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 repositório segue uma organização clara e separada por contexto, facilitando a manutenção e a escalabilidade.</a:t>
            </a:r>
            <a:endParaRPr lang="en-US" sz="800"/>
          </a:p>
        </p:txBody>
      </p:sp>
      <p:pic>
        <p:nvPicPr>
          <p:cNvPr id="1882824051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496119" y="4023420"/>
            <a:ext cx="1982986" cy="725091"/>
          </a:xfrm>
          <a:prstGeom prst="rect">
            <a:avLst/>
          </a:prstGeom>
        </p:spPr>
      </p:pic>
      <p:sp>
        <p:nvSpPr>
          <p:cNvPr id="1635599765" name="Text 2"/>
          <p:cNvSpPr/>
          <p:nvPr/>
        </p:nvSpPr>
        <p:spPr bwMode="auto">
          <a:xfrm>
            <a:off x="669429" y="4139580"/>
            <a:ext cx="169351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backend/</a:t>
            </a:r>
            <a:endParaRPr lang="en-US" sz="1000"/>
          </a:p>
        </p:txBody>
      </p:sp>
      <p:sp>
        <p:nvSpPr>
          <p:cNvPr id="1664870071" name="Text 3"/>
          <p:cNvSpPr/>
          <p:nvPr/>
        </p:nvSpPr>
        <p:spPr bwMode="auto">
          <a:xfrm>
            <a:off x="669429" y="4352255"/>
            <a:ext cx="169351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API, modelos de dados, rotas e Dockerfile próprio.</a:t>
            </a:r>
            <a:endParaRPr lang="en-US" sz="800"/>
          </a:p>
        </p:txBody>
      </p:sp>
      <p:pic>
        <p:nvPicPr>
          <p:cNvPr id="2140518300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52328" y="4023420"/>
            <a:ext cx="1983060" cy="725091"/>
          </a:xfrm>
          <a:prstGeom prst="rect">
            <a:avLst/>
          </a:prstGeom>
        </p:spPr>
      </p:pic>
      <p:sp>
        <p:nvSpPr>
          <p:cNvPr id="1726189791" name="Text 4"/>
          <p:cNvSpPr/>
          <p:nvPr/>
        </p:nvSpPr>
        <p:spPr bwMode="auto">
          <a:xfrm>
            <a:off x="2725638" y="4139580"/>
            <a:ext cx="1693590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frontend/</a:t>
            </a:r>
            <a:endParaRPr lang="en-US" sz="1000"/>
          </a:p>
        </p:txBody>
      </p:sp>
      <p:sp>
        <p:nvSpPr>
          <p:cNvPr id="1002928911" name="Text 5"/>
          <p:cNvSpPr/>
          <p:nvPr/>
        </p:nvSpPr>
        <p:spPr bwMode="auto">
          <a:xfrm>
            <a:off x="2725638" y="4352255"/>
            <a:ext cx="169359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Aplicação React, componentes e Dockerfile próprio.</a:t>
            </a:r>
            <a:endParaRPr lang="en-US" sz="800"/>
          </a:p>
        </p:txBody>
      </p:sp>
      <p:pic>
        <p:nvPicPr>
          <p:cNvPr id="2119927979" name="Image 3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08612" y="4023420"/>
            <a:ext cx="1982986" cy="725091"/>
          </a:xfrm>
          <a:prstGeom prst="rect">
            <a:avLst/>
          </a:prstGeom>
        </p:spPr>
      </p:pic>
      <p:sp>
        <p:nvSpPr>
          <p:cNvPr id="1209173455" name="Text 6"/>
          <p:cNvSpPr/>
          <p:nvPr/>
        </p:nvSpPr>
        <p:spPr bwMode="auto">
          <a:xfrm>
            <a:off x="4781922" y="4139580"/>
            <a:ext cx="1693515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docker-compose.yml</a:t>
            </a:r>
            <a:endParaRPr lang="en-US" sz="1000"/>
          </a:p>
        </p:txBody>
      </p:sp>
      <p:sp>
        <p:nvSpPr>
          <p:cNvPr id="132795817" name="Text 7"/>
          <p:cNvSpPr/>
          <p:nvPr/>
        </p:nvSpPr>
        <p:spPr bwMode="auto">
          <a:xfrm>
            <a:off x="4781922" y="4352255"/>
            <a:ext cx="169351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Orquestra todos os serviços com um único comando.</a:t>
            </a:r>
            <a:endParaRPr lang="en-US" sz="800"/>
          </a:p>
        </p:txBody>
      </p:sp>
      <p:pic>
        <p:nvPicPr>
          <p:cNvPr id="2083691556" name="Image 4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64821" y="4023420"/>
            <a:ext cx="1983060" cy="725091"/>
          </a:xfrm>
          <a:prstGeom prst="rect">
            <a:avLst/>
          </a:prstGeom>
        </p:spPr>
      </p:pic>
      <p:sp>
        <p:nvSpPr>
          <p:cNvPr id="926123799" name="Text 8"/>
          <p:cNvSpPr/>
          <p:nvPr/>
        </p:nvSpPr>
        <p:spPr bwMode="auto">
          <a:xfrm>
            <a:off x="6838131" y="4139580"/>
            <a:ext cx="1693590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.github/workflows/</a:t>
            </a:r>
            <a:endParaRPr lang="en-US" sz="1000"/>
          </a:p>
        </p:txBody>
      </p:sp>
      <p:sp>
        <p:nvSpPr>
          <p:cNvPr id="413737779" name="Text 9"/>
          <p:cNvSpPr/>
          <p:nvPr/>
        </p:nvSpPr>
        <p:spPr bwMode="auto">
          <a:xfrm>
            <a:off x="6838131" y="4352255"/>
            <a:ext cx="169359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YAMLs que definem os pipelines de CI/CD.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36374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8608507" name="Text 0"/>
          <p:cNvSpPr/>
          <p:nvPr/>
        </p:nvSpPr>
        <p:spPr bwMode="auto">
          <a:xfrm>
            <a:off x="3925119" y="440382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55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Execução com Docker Compose</a:t>
            </a:r>
            <a:endParaRPr lang="en-US" sz="2550"/>
          </a:p>
        </p:txBody>
      </p:sp>
      <p:sp>
        <p:nvSpPr>
          <p:cNvPr id="2132127073" name="Text 1"/>
          <p:cNvSpPr/>
          <p:nvPr/>
        </p:nvSpPr>
        <p:spPr bwMode="auto">
          <a:xfrm>
            <a:off x="3925119" y="1029444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Com um único comando, toda a infraestrutura é levantada: backend, frontend e banco de dados.</a:t>
            </a:r>
            <a:endParaRPr lang="en-US" sz="1000"/>
          </a:p>
        </p:txBody>
      </p:sp>
      <p:pic>
        <p:nvPicPr>
          <p:cNvPr id="174104684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25119" y="1566639"/>
            <a:ext cx="653430" cy="784101"/>
          </a:xfrm>
          <a:prstGeom prst="rect">
            <a:avLst/>
          </a:prstGeom>
        </p:spPr>
      </p:pic>
      <p:sp>
        <p:nvSpPr>
          <p:cNvPr id="647501126" name="Text 2"/>
          <p:cNvSpPr/>
          <p:nvPr/>
        </p:nvSpPr>
        <p:spPr bwMode="auto">
          <a:xfrm>
            <a:off x="4699025" y="1697310"/>
            <a:ext cx="3948857" cy="204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1. Clone</a:t>
            </a:r>
            <a:endParaRPr lang="en-US" sz="1250"/>
          </a:p>
        </p:txBody>
      </p:sp>
      <p:sp>
        <p:nvSpPr>
          <p:cNvPr id="669072135" name="Text 3"/>
          <p:cNvSpPr/>
          <p:nvPr/>
        </p:nvSpPr>
        <p:spPr bwMode="auto">
          <a:xfrm>
            <a:off x="4699025" y="1973684"/>
            <a:ext cx="3948857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git clone</a:t>
            </a: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do repositório</a:t>
            </a:r>
            <a:endParaRPr lang="en-US" sz="1000"/>
          </a:p>
        </p:txBody>
      </p:sp>
      <p:pic>
        <p:nvPicPr>
          <p:cNvPr id="17453480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925119" y="2350740"/>
            <a:ext cx="653430" cy="784101"/>
          </a:xfrm>
          <a:prstGeom prst="rect">
            <a:avLst/>
          </a:prstGeom>
        </p:spPr>
      </p:pic>
      <p:sp>
        <p:nvSpPr>
          <p:cNvPr id="115738942" name="Text 4"/>
          <p:cNvSpPr/>
          <p:nvPr/>
        </p:nvSpPr>
        <p:spPr bwMode="auto">
          <a:xfrm>
            <a:off x="4699025" y="2481411"/>
            <a:ext cx="3948857" cy="204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2. Build</a:t>
            </a:r>
            <a:endParaRPr lang="en-US" sz="1250"/>
          </a:p>
        </p:txBody>
      </p:sp>
      <p:sp>
        <p:nvSpPr>
          <p:cNvPr id="392701028" name="Text 5"/>
          <p:cNvSpPr/>
          <p:nvPr/>
        </p:nvSpPr>
        <p:spPr bwMode="auto">
          <a:xfrm>
            <a:off x="4699025" y="2757785"/>
            <a:ext cx="3948857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 compose build</a:t>
            </a:r>
            <a:endParaRPr lang="en-US" sz="1000"/>
          </a:p>
        </p:txBody>
      </p:sp>
      <p:pic>
        <p:nvPicPr>
          <p:cNvPr id="479171556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925119" y="3134841"/>
            <a:ext cx="653430" cy="784101"/>
          </a:xfrm>
          <a:prstGeom prst="rect">
            <a:avLst/>
          </a:prstGeom>
        </p:spPr>
      </p:pic>
      <p:sp>
        <p:nvSpPr>
          <p:cNvPr id="2139096931" name="Text 6"/>
          <p:cNvSpPr/>
          <p:nvPr/>
        </p:nvSpPr>
        <p:spPr bwMode="auto">
          <a:xfrm>
            <a:off x="4699025" y="3265512"/>
            <a:ext cx="3948857" cy="204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3. Up</a:t>
            </a:r>
            <a:endParaRPr lang="en-US" sz="1250"/>
          </a:p>
        </p:txBody>
      </p:sp>
      <p:sp>
        <p:nvSpPr>
          <p:cNvPr id="1140686487" name="Text 7"/>
          <p:cNvSpPr/>
          <p:nvPr/>
        </p:nvSpPr>
        <p:spPr bwMode="auto">
          <a:xfrm>
            <a:off x="4699025" y="3541886"/>
            <a:ext cx="3948857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 compose up -d</a:t>
            </a:r>
            <a:endParaRPr lang="en-US" sz="1000"/>
          </a:p>
        </p:txBody>
      </p:sp>
      <p:pic>
        <p:nvPicPr>
          <p:cNvPr id="530422450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925119" y="3918942"/>
            <a:ext cx="653430" cy="784101"/>
          </a:xfrm>
          <a:prstGeom prst="rect">
            <a:avLst/>
          </a:prstGeom>
        </p:spPr>
      </p:pic>
      <p:sp>
        <p:nvSpPr>
          <p:cNvPr id="979841175" name="Text 8"/>
          <p:cNvSpPr/>
          <p:nvPr/>
        </p:nvSpPr>
        <p:spPr bwMode="auto">
          <a:xfrm>
            <a:off x="4699025" y="4049613"/>
            <a:ext cx="3948857" cy="204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4. Acesso</a:t>
            </a:r>
            <a:endParaRPr lang="en-US" sz="1250"/>
          </a:p>
        </p:txBody>
      </p:sp>
      <p:sp>
        <p:nvSpPr>
          <p:cNvPr id="445585348" name="Text 9"/>
          <p:cNvSpPr/>
          <p:nvPr/>
        </p:nvSpPr>
        <p:spPr bwMode="auto">
          <a:xfrm>
            <a:off x="4699025" y="4325987"/>
            <a:ext cx="3948857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Frontend em </a:t>
            </a:r>
            <a:r>
              <a:rPr lang="en-US" sz="10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localhost:3000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47488" name="Text 0"/>
          <p:cNvSpPr/>
          <p:nvPr/>
        </p:nvSpPr>
        <p:spPr bwMode="auto"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0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Backend em Container</a:t>
            </a:r>
            <a:endParaRPr lang="en-US" sz="2000"/>
          </a:p>
        </p:txBody>
      </p:sp>
      <p:pic>
        <p:nvPicPr>
          <p:cNvPr id="23151156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393852453" name="Text 1"/>
          <p:cNvSpPr/>
          <p:nvPr/>
        </p:nvSpPr>
        <p:spPr bwMode="auto">
          <a:xfrm>
            <a:off x="5961013" y="2174379"/>
            <a:ext cx="2691557" cy="42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 backend é containerizado com um </a:t>
            </a:r>
            <a:r>
              <a:rPr lang="en-US" sz="8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Dockerfile</a:t>
            </a: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baseado em Node.js, expondo a porta da API e conectando-se ao banco de dados via variáveis de ambiente.</a:t>
            </a:r>
            <a:endParaRPr lang="en-US" sz="800"/>
          </a:p>
        </p:txBody>
      </p:sp>
      <p:sp>
        <p:nvSpPr>
          <p:cNvPr id="2092649798" name="Shape 2"/>
          <p:cNvSpPr/>
          <p:nvPr/>
        </p:nvSpPr>
        <p:spPr bwMode="auto">
          <a:xfrm>
            <a:off x="496119" y="4028182"/>
            <a:ext cx="2668414" cy="715566"/>
          </a:xfrm>
          <a:prstGeom prst="roundRect">
            <a:avLst>
              <a:gd name="adj" fmla="val 12816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709775631" name="Text 3"/>
          <p:cNvSpPr/>
          <p:nvPr/>
        </p:nvSpPr>
        <p:spPr bwMode="auto">
          <a:xfrm>
            <a:off x="612279" y="4144342"/>
            <a:ext cx="243609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Dockerfile</a:t>
            </a:r>
            <a:endParaRPr lang="en-US" sz="1000"/>
          </a:p>
        </p:txBody>
      </p:sp>
      <p:sp>
        <p:nvSpPr>
          <p:cNvPr id="2038461550" name="Text 4"/>
          <p:cNvSpPr/>
          <p:nvPr/>
        </p:nvSpPr>
        <p:spPr bwMode="auto">
          <a:xfrm>
            <a:off x="612279" y="4347493"/>
            <a:ext cx="243609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Imagem leve, multi-stage build para reduzir tamanho final.</a:t>
            </a:r>
            <a:endParaRPr lang="en-US" sz="800"/>
          </a:p>
        </p:txBody>
      </p:sp>
      <p:sp>
        <p:nvSpPr>
          <p:cNvPr id="1245391824" name="Shape 5"/>
          <p:cNvSpPr/>
          <p:nvPr/>
        </p:nvSpPr>
        <p:spPr bwMode="auto">
          <a:xfrm>
            <a:off x="3237756" y="4028182"/>
            <a:ext cx="2668414" cy="715566"/>
          </a:xfrm>
          <a:prstGeom prst="roundRect">
            <a:avLst>
              <a:gd name="adj" fmla="val 12816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111763391" name="Text 6"/>
          <p:cNvSpPr/>
          <p:nvPr/>
        </p:nvSpPr>
        <p:spPr bwMode="auto">
          <a:xfrm>
            <a:off x="3353916" y="4144342"/>
            <a:ext cx="243609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Variáveis de Ambiente</a:t>
            </a:r>
            <a:endParaRPr lang="en-US" sz="1000"/>
          </a:p>
        </p:txBody>
      </p:sp>
      <p:sp>
        <p:nvSpPr>
          <p:cNvPr id="1280646539" name="Text 7"/>
          <p:cNvSpPr/>
          <p:nvPr/>
        </p:nvSpPr>
        <p:spPr bwMode="auto">
          <a:xfrm>
            <a:off x="3353916" y="4347493"/>
            <a:ext cx="243609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PORT, DATABASE_URL e chaves configuradas via Compose.</a:t>
            </a:r>
            <a:endParaRPr lang="en-US" sz="800"/>
          </a:p>
        </p:txBody>
      </p:sp>
      <p:sp>
        <p:nvSpPr>
          <p:cNvPr id="1537989745" name="Shape 8"/>
          <p:cNvSpPr/>
          <p:nvPr/>
        </p:nvSpPr>
        <p:spPr bwMode="auto">
          <a:xfrm>
            <a:off x="5979393" y="4028182"/>
            <a:ext cx="2668488" cy="715566"/>
          </a:xfrm>
          <a:prstGeom prst="roundRect">
            <a:avLst>
              <a:gd name="adj" fmla="val 12816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567017113" name="Text 9"/>
          <p:cNvSpPr/>
          <p:nvPr/>
        </p:nvSpPr>
        <p:spPr bwMode="auto">
          <a:xfrm>
            <a:off x="6095554" y="4144342"/>
            <a:ext cx="243616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Saúde</a:t>
            </a:r>
            <a:endParaRPr lang="en-US" sz="1000"/>
          </a:p>
        </p:txBody>
      </p:sp>
      <p:sp>
        <p:nvSpPr>
          <p:cNvPr id="434909891" name="Text 10"/>
          <p:cNvSpPr/>
          <p:nvPr/>
        </p:nvSpPr>
        <p:spPr bwMode="auto">
          <a:xfrm>
            <a:off x="6095554" y="4347493"/>
            <a:ext cx="243616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Healthcheck nativo para monitoramento de status.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725973" name="Text 0"/>
          <p:cNvSpPr/>
          <p:nvPr/>
        </p:nvSpPr>
        <p:spPr bwMode="auto"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0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Frontend em Container</a:t>
            </a:r>
            <a:endParaRPr lang="en-US" sz="2000"/>
          </a:p>
        </p:txBody>
      </p:sp>
      <p:pic>
        <p:nvPicPr>
          <p:cNvPr id="194684945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2146154242" name="Text 1"/>
          <p:cNvSpPr/>
          <p:nvPr/>
        </p:nvSpPr>
        <p:spPr bwMode="auto">
          <a:xfrm>
            <a:off x="5961013" y="2176760"/>
            <a:ext cx="269155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 frontend React é buildado em produção e servido via Nginx dentro do container, garantindo performance e isolamento.</a:t>
            </a:r>
            <a:endParaRPr lang="en-US" sz="800"/>
          </a:p>
        </p:txBody>
      </p:sp>
      <p:sp>
        <p:nvSpPr>
          <p:cNvPr id="826606510" name="Shape 2"/>
          <p:cNvSpPr/>
          <p:nvPr/>
        </p:nvSpPr>
        <p:spPr bwMode="auto">
          <a:xfrm>
            <a:off x="496119" y="4028182"/>
            <a:ext cx="2668414" cy="715566"/>
          </a:xfrm>
          <a:prstGeom prst="roundRect">
            <a:avLst>
              <a:gd name="adj" fmla="val 12816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440176912" name="Text 3"/>
          <p:cNvSpPr/>
          <p:nvPr/>
        </p:nvSpPr>
        <p:spPr bwMode="auto">
          <a:xfrm>
            <a:off x="612279" y="4144342"/>
            <a:ext cx="243609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Build Otimizado</a:t>
            </a:r>
            <a:endParaRPr lang="en-US" sz="1000"/>
          </a:p>
        </p:txBody>
      </p:sp>
      <p:sp>
        <p:nvSpPr>
          <p:cNvPr id="59707684" name="Text 4"/>
          <p:cNvSpPr/>
          <p:nvPr/>
        </p:nvSpPr>
        <p:spPr bwMode="auto">
          <a:xfrm>
            <a:off x="612279" y="4347493"/>
            <a:ext cx="243609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Minificação e tree-shaking automáticos no build.</a:t>
            </a:r>
            <a:endParaRPr lang="en-US" sz="800"/>
          </a:p>
        </p:txBody>
      </p:sp>
      <p:sp>
        <p:nvSpPr>
          <p:cNvPr id="204947078" name="Shape 5"/>
          <p:cNvSpPr/>
          <p:nvPr/>
        </p:nvSpPr>
        <p:spPr bwMode="auto">
          <a:xfrm>
            <a:off x="3237756" y="4028182"/>
            <a:ext cx="2668414" cy="715566"/>
          </a:xfrm>
          <a:prstGeom prst="roundRect">
            <a:avLst>
              <a:gd name="adj" fmla="val 12816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025023547" name="Text 6"/>
          <p:cNvSpPr/>
          <p:nvPr/>
        </p:nvSpPr>
        <p:spPr bwMode="auto">
          <a:xfrm>
            <a:off x="3353916" y="4144342"/>
            <a:ext cx="243609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Nginx</a:t>
            </a:r>
            <a:endParaRPr lang="en-US" sz="1000"/>
          </a:p>
        </p:txBody>
      </p:sp>
      <p:sp>
        <p:nvSpPr>
          <p:cNvPr id="220658952" name="Text 7"/>
          <p:cNvSpPr/>
          <p:nvPr/>
        </p:nvSpPr>
        <p:spPr bwMode="auto">
          <a:xfrm>
            <a:off x="3353916" y="4347493"/>
            <a:ext cx="243609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Servidor leve para arquivos estáticos em produção.</a:t>
            </a:r>
            <a:endParaRPr lang="en-US" sz="800"/>
          </a:p>
        </p:txBody>
      </p:sp>
      <p:sp>
        <p:nvSpPr>
          <p:cNvPr id="2062647945" name="Shape 8"/>
          <p:cNvSpPr/>
          <p:nvPr/>
        </p:nvSpPr>
        <p:spPr bwMode="auto">
          <a:xfrm>
            <a:off x="5979393" y="4028182"/>
            <a:ext cx="2668488" cy="715566"/>
          </a:xfrm>
          <a:prstGeom prst="roundRect">
            <a:avLst>
              <a:gd name="adj" fmla="val 12816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695672548" name="Text 9"/>
          <p:cNvSpPr/>
          <p:nvPr/>
        </p:nvSpPr>
        <p:spPr bwMode="auto">
          <a:xfrm>
            <a:off x="6095554" y="4144342"/>
            <a:ext cx="243616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Proxy Reverso</a:t>
            </a:r>
            <a:endParaRPr lang="en-US" sz="1000"/>
          </a:p>
        </p:txBody>
      </p:sp>
      <p:sp>
        <p:nvSpPr>
          <p:cNvPr id="1066315340" name="Text 10"/>
          <p:cNvSpPr/>
          <p:nvPr/>
        </p:nvSpPr>
        <p:spPr bwMode="auto">
          <a:xfrm>
            <a:off x="6095554" y="4347493"/>
            <a:ext cx="243616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Comunicação com o backend via variável de ambiente.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94616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99270630" name="Text 0"/>
          <p:cNvSpPr/>
          <p:nvPr/>
        </p:nvSpPr>
        <p:spPr bwMode="auto">
          <a:xfrm>
            <a:off x="3925119" y="397892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0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CI/CD com GitHub Actions</a:t>
            </a:r>
            <a:endParaRPr lang="en-US" sz="2700"/>
          </a:p>
        </p:txBody>
      </p:sp>
      <p:sp>
        <p:nvSpPr>
          <p:cNvPr id="217182910" name="Text 1"/>
          <p:cNvSpPr/>
          <p:nvPr/>
        </p:nvSpPr>
        <p:spPr bwMode="auto">
          <a:xfrm>
            <a:off x="3925119" y="1040011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A cada push ou pull request, o pipeline é acionado automaticamente, garantindo qualidade e entrega contínua.</a:t>
            </a:r>
            <a:endParaRPr lang="en-US" sz="1050"/>
          </a:p>
        </p:txBody>
      </p:sp>
      <p:sp>
        <p:nvSpPr>
          <p:cNvPr id="137631671" name="Shape 2"/>
          <p:cNvSpPr/>
          <p:nvPr/>
        </p:nvSpPr>
        <p:spPr bwMode="auto">
          <a:xfrm>
            <a:off x="4082058" y="1637407"/>
            <a:ext cx="19050" cy="3108127"/>
          </a:xfrm>
          <a:prstGeom prst="roundRect">
            <a:avLst>
              <a:gd name="adj" fmla="val 50000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09511908" name="Shape 3"/>
          <p:cNvSpPr/>
          <p:nvPr/>
        </p:nvSpPr>
        <p:spPr bwMode="auto">
          <a:xfrm>
            <a:off x="4219984" y="1784821"/>
            <a:ext cx="418654" cy="19050"/>
          </a:xfrm>
          <a:prstGeom prst="roundRect">
            <a:avLst>
              <a:gd name="adj" fmla="val 50000"/>
            </a:avLst>
          </a:prstGeom>
          <a:solidFill>
            <a:srgbClr val="FC8337"/>
          </a:solidFill>
          <a:ln/>
        </p:spPr>
      </p:sp>
      <p:sp>
        <p:nvSpPr>
          <p:cNvPr id="121237796" name="Shape 4"/>
          <p:cNvSpPr/>
          <p:nvPr/>
        </p:nvSpPr>
        <p:spPr bwMode="auto">
          <a:xfrm>
            <a:off x="3925081" y="1637407"/>
            <a:ext cx="313953" cy="313953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552045784" name="Text 5"/>
          <p:cNvSpPr/>
          <p:nvPr/>
        </p:nvSpPr>
        <p:spPr bwMode="auto">
          <a:xfrm>
            <a:off x="3977357" y="1663526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1</a:t>
            </a:r>
            <a:endParaRPr lang="en-US" sz="1600"/>
          </a:p>
        </p:txBody>
      </p:sp>
      <p:sp>
        <p:nvSpPr>
          <p:cNvPr id="1984174860" name="Text 6"/>
          <p:cNvSpPr/>
          <p:nvPr/>
        </p:nvSpPr>
        <p:spPr bwMode="auto">
          <a:xfrm>
            <a:off x="4779837" y="1685330"/>
            <a:ext cx="386804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Trigger</a:t>
            </a:r>
            <a:endParaRPr lang="en-US" sz="1350"/>
          </a:p>
        </p:txBody>
      </p:sp>
      <p:sp>
        <p:nvSpPr>
          <p:cNvPr id="1190804841" name="Text 7"/>
          <p:cNvSpPr/>
          <p:nvPr/>
        </p:nvSpPr>
        <p:spPr bwMode="auto">
          <a:xfrm>
            <a:off x="4779837" y="1985739"/>
            <a:ext cx="38680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Push na branch </a:t>
            </a:r>
            <a:r>
              <a:rPr lang="en-US" sz="105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main</a:t>
            </a: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ou PR aberto</a:t>
            </a:r>
            <a:endParaRPr lang="en-US" sz="1050"/>
          </a:p>
        </p:txBody>
      </p:sp>
      <p:sp>
        <p:nvSpPr>
          <p:cNvPr id="1791364069" name="Shape 8"/>
          <p:cNvSpPr/>
          <p:nvPr/>
        </p:nvSpPr>
        <p:spPr bwMode="auto">
          <a:xfrm>
            <a:off x="4219984" y="2634109"/>
            <a:ext cx="418654" cy="19050"/>
          </a:xfrm>
          <a:prstGeom prst="roundRect">
            <a:avLst>
              <a:gd name="adj" fmla="val 50000"/>
            </a:avLst>
          </a:prstGeom>
          <a:solidFill>
            <a:srgbClr val="FC8337"/>
          </a:solidFill>
          <a:ln/>
        </p:spPr>
      </p:sp>
      <p:sp>
        <p:nvSpPr>
          <p:cNvPr id="2059370992" name="Shape 9"/>
          <p:cNvSpPr/>
          <p:nvPr/>
        </p:nvSpPr>
        <p:spPr bwMode="auto">
          <a:xfrm>
            <a:off x="3925081" y="2486694"/>
            <a:ext cx="313953" cy="313953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611579341" name="Text 10"/>
          <p:cNvSpPr/>
          <p:nvPr/>
        </p:nvSpPr>
        <p:spPr bwMode="auto">
          <a:xfrm>
            <a:off x="3977357" y="251281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2</a:t>
            </a:r>
            <a:endParaRPr lang="en-US" sz="1600"/>
          </a:p>
        </p:txBody>
      </p:sp>
      <p:sp>
        <p:nvSpPr>
          <p:cNvPr id="794677939" name="Text 11"/>
          <p:cNvSpPr/>
          <p:nvPr/>
        </p:nvSpPr>
        <p:spPr bwMode="auto">
          <a:xfrm>
            <a:off x="4779837" y="2534617"/>
            <a:ext cx="386804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Build</a:t>
            </a:r>
            <a:endParaRPr lang="en-US" sz="1350"/>
          </a:p>
        </p:txBody>
      </p:sp>
      <p:sp>
        <p:nvSpPr>
          <p:cNvPr id="576282581" name="Text 12"/>
          <p:cNvSpPr/>
          <p:nvPr/>
        </p:nvSpPr>
        <p:spPr bwMode="auto">
          <a:xfrm>
            <a:off x="4779837" y="2835027"/>
            <a:ext cx="38680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Compilação do backend e frontend</a:t>
            </a:r>
            <a:endParaRPr lang="en-US" sz="1050"/>
          </a:p>
        </p:txBody>
      </p:sp>
      <p:sp>
        <p:nvSpPr>
          <p:cNvPr id="53897353" name="Shape 13"/>
          <p:cNvSpPr/>
          <p:nvPr/>
        </p:nvSpPr>
        <p:spPr bwMode="auto">
          <a:xfrm>
            <a:off x="4219984" y="3478634"/>
            <a:ext cx="418654" cy="19050"/>
          </a:xfrm>
          <a:prstGeom prst="roundRect">
            <a:avLst>
              <a:gd name="adj" fmla="val 50000"/>
            </a:avLst>
          </a:prstGeom>
          <a:solidFill>
            <a:srgbClr val="FC8337"/>
          </a:solidFill>
          <a:ln/>
        </p:spPr>
      </p:sp>
      <p:sp>
        <p:nvSpPr>
          <p:cNvPr id="1555984422" name="Shape 14"/>
          <p:cNvSpPr/>
          <p:nvPr/>
        </p:nvSpPr>
        <p:spPr bwMode="auto">
          <a:xfrm>
            <a:off x="3925081" y="3331220"/>
            <a:ext cx="313953" cy="313953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495923842" name="Text 15"/>
          <p:cNvSpPr/>
          <p:nvPr/>
        </p:nvSpPr>
        <p:spPr bwMode="auto">
          <a:xfrm>
            <a:off x="3977357" y="3357339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3</a:t>
            </a:r>
            <a:endParaRPr lang="en-US" sz="1600"/>
          </a:p>
        </p:txBody>
      </p:sp>
      <p:sp>
        <p:nvSpPr>
          <p:cNvPr id="2022808320" name="Text 16"/>
          <p:cNvSpPr/>
          <p:nvPr/>
        </p:nvSpPr>
        <p:spPr bwMode="auto">
          <a:xfrm>
            <a:off x="4779837" y="3379143"/>
            <a:ext cx="386804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Testes</a:t>
            </a:r>
            <a:endParaRPr lang="en-US" sz="1350"/>
          </a:p>
        </p:txBody>
      </p:sp>
      <p:sp>
        <p:nvSpPr>
          <p:cNvPr id="381005568" name="Text 17"/>
          <p:cNvSpPr/>
          <p:nvPr/>
        </p:nvSpPr>
        <p:spPr bwMode="auto">
          <a:xfrm>
            <a:off x="4779837" y="3679552"/>
            <a:ext cx="38680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Execução automática dos testes unitários</a:t>
            </a:r>
            <a:endParaRPr lang="en-US" sz="1050"/>
          </a:p>
        </p:txBody>
      </p:sp>
      <p:sp>
        <p:nvSpPr>
          <p:cNvPr id="712406740" name="Shape 18"/>
          <p:cNvSpPr/>
          <p:nvPr/>
        </p:nvSpPr>
        <p:spPr bwMode="auto">
          <a:xfrm>
            <a:off x="4219984" y="4323159"/>
            <a:ext cx="418654" cy="19050"/>
          </a:xfrm>
          <a:prstGeom prst="roundRect">
            <a:avLst>
              <a:gd name="adj" fmla="val 50000"/>
            </a:avLst>
          </a:prstGeom>
          <a:solidFill>
            <a:srgbClr val="FC8337"/>
          </a:solidFill>
          <a:ln/>
        </p:spPr>
      </p:sp>
      <p:sp>
        <p:nvSpPr>
          <p:cNvPr id="2029544078" name="Shape 19"/>
          <p:cNvSpPr/>
          <p:nvPr/>
        </p:nvSpPr>
        <p:spPr bwMode="auto">
          <a:xfrm>
            <a:off x="3925081" y="4175745"/>
            <a:ext cx="313953" cy="313953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818830270" name="Text 20"/>
          <p:cNvSpPr/>
          <p:nvPr/>
        </p:nvSpPr>
        <p:spPr bwMode="auto">
          <a:xfrm>
            <a:off x="3977357" y="420186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6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4</a:t>
            </a:r>
            <a:endParaRPr lang="en-US" sz="1600"/>
          </a:p>
        </p:txBody>
      </p:sp>
      <p:sp>
        <p:nvSpPr>
          <p:cNvPr id="1269882859" name="Text 21"/>
          <p:cNvSpPr/>
          <p:nvPr/>
        </p:nvSpPr>
        <p:spPr bwMode="auto">
          <a:xfrm>
            <a:off x="4779837" y="4223668"/>
            <a:ext cx="386804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Deploy</a:t>
            </a:r>
            <a:endParaRPr lang="en-US" sz="1350"/>
          </a:p>
        </p:txBody>
      </p:sp>
      <p:sp>
        <p:nvSpPr>
          <p:cNvPr id="1084019122" name="Text 22"/>
          <p:cNvSpPr/>
          <p:nvPr/>
        </p:nvSpPr>
        <p:spPr bwMode="auto">
          <a:xfrm>
            <a:off x="4779837" y="4524077"/>
            <a:ext cx="38680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Publicação dos containers e atualização do serviço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23914" name="Text 0"/>
          <p:cNvSpPr/>
          <p:nvPr/>
        </p:nvSpPr>
        <p:spPr bwMode="auto">
          <a:xfrm>
            <a:off x="496119" y="398190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5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Monitoramento de Logs</a:t>
            </a:r>
            <a:endParaRPr lang="en-US" sz="2250"/>
          </a:p>
        </p:txBody>
      </p:sp>
      <p:pic>
        <p:nvPicPr>
          <p:cNvPr id="79708363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6119" y="1003697"/>
            <a:ext cx="5200278" cy="2946797"/>
          </a:xfrm>
          <a:prstGeom prst="rect">
            <a:avLst/>
          </a:prstGeom>
        </p:spPr>
      </p:pic>
      <p:sp>
        <p:nvSpPr>
          <p:cNvPr id="1618376693" name="Text 1"/>
          <p:cNvSpPr/>
          <p:nvPr/>
        </p:nvSpPr>
        <p:spPr bwMode="auto">
          <a:xfrm>
            <a:off x="5982146" y="2226618"/>
            <a:ext cx="267042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 Docker Compose centraliza os logs de todos os serviços, permitindo debug e monitoramento em tempo real sem configuração adicional.</a:t>
            </a:r>
            <a:endParaRPr lang="en-US" sz="900"/>
          </a:p>
        </p:txBody>
      </p:sp>
      <p:pic>
        <p:nvPicPr>
          <p:cNvPr id="1902345200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481831" y="4146649"/>
            <a:ext cx="2653531" cy="612873"/>
          </a:xfrm>
          <a:prstGeom prst="rect">
            <a:avLst/>
          </a:prstGeom>
        </p:spPr>
      </p:pic>
      <p:sp>
        <p:nvSpPr>
          <p:cNvPr id="1154097658" name="Text 2"/>
          <p:cNvSpPr/>
          <p:nvPr/>
        </p:nvSpPr>
        <p:spPr bwMode="auto">
          <a:xfrm>
            <a:off x="639812" y="4160937"/>
            <a:ext cx="2495550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 compose logs -f</a:t>
            </a:r>
            <a:endParaRPr lang="en-US" sz="1100"/>
          </a:p>
        </p:txBody>
      </p:sp>
      <p:sp>
        <p:nvSpPr>
          <p:cNvPr id="1792934211" name="Text 3"/>
          <p:cNvSpPr/>
          <p:nvPr/>
        </p:nvSpPr>
        <p:spPr bwMode="auto">
          <a:xfrm>
            <a:off x="639812" y="4411266"/>
            <a:ext cx="249555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Segue os logs de todos os serviços em tempo real.</a:t>
            </a:r>
            <a:endParaRPr lang="en-US" sz="900"/>
          </a:p>
        </p:txBody>
      </p:sp>
      <p:pic>
        <p:nvPicPr>
          <p:cNvPr id="1710990254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38054" y="4146649"/>
            <a:ext cx="2653531" cy="612873"/>
          </a:xfrm>
          <a:prstGeom prst="rect">
            <a:avLst/>
          </a:prstGeom>
        </p:spPr>
      </p:pic>
      <p:sp>
        <p:nvSpPr>
          <p:cNvPr id="392424791" name="Text 4"/>
          <p:cNvSpPr/>
          <p:nvPr/>
        </p:nvSpPr>
        <p:spPr bwMode="auto">
          <a:xfrm>
            <a:off x="3396035" y="4160937"/>
            <a:ext cx="2495550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 compose logs backend</a:t>
            </a:r>
            <a:endParaRPr lang="en-US" sz="1100"/>
          </a:p>
        </p:txBody>
      </p:sp>
      <p:sp>
        <p:nvSpPr>
          <p:cNvPr id="655444946" name="Text 5"/>
          <p:cNvSpPr/>
          <p:nvPr/>
        </p:nvSpPr>
        <p:spPr bwMode="auto">
          <a:xfrm>
            <a:off x="3396035" y="4411266"/>
            <a:ext cx="249555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Filtra logs por serviço específico.</a:t>
            </a:r>
            <a:endParaRPr lang="en-US" sz="900"/>
          </a:p>
        </p:txBody>
      </p:sp>
      <p:pic>
        <p:nvPicPr>
          <p:cNvPr id="138647186" name="Image 3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94276" y="4146649"/>
            <a:ext cx="2653531" cy="612873"/>
          </a:xfrm>
          <a:prstGeom prst="rect">
            <a:avLst/>
          </a:prstGeom>
        </p:spPr>
      </p:pic>
      <p:sp>
        <p:nvSpPr>
          <p:cNvPr id="1406747610" name="Text 6"/>
          <p:cNvSpPr/>
          <p:nvPr/>
        </p:nvSpPr>
        <p:spPr bwMode="auto">
          <a:xfrm>
            <a:off x="6152257" y="4160937"/>
            <a:ext cx="249555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Saúde dos Containers</a:t>
            </a:r>
            <a:endParaRPr lang="en-US" sz="1100"/>
          </a:p>
        </p:txBody>
      </p:sp>
      <p:sp>
        <p:nvSpPr>
          <p:cNvPr id="2130727688" name="Text 7"/>
          <p:cNvSpPr/>
          <p:nvPr/>
        </p:nvSpPr>
        <p:spPr bwMode="auto">
          <a:xfrm>
            <a:off x="6152257" y="4396978"/>
            <a:ext cx="249555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Status visível via </a:t>
            </a:r>
            <a:r>
              <a:rPr lang="en-US" sz="900">
                <a:solidFill>
                  <a:srgbClr val="E5E0DF"/>
                </a:solidFill>
                <a:highlight>
                  <a:srgbClr val="101010"/>
                </a:highlight>
                <a:latin typeface="Consolas"/>
                <a:ea typeface="Consolas"/>
                <a:cs typeface="Consolas"/>
              </a:rPr>
              <a:t>docker compose ps</a:t>
            </a:r>
            <a:r>
              <a:rPr lang="en-US" sz="9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362128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943301722" name="Text 0"/>
          <p:cNvSpPr/>
          <p:nvPr/>
        </p:nvSpPr>
        <p:spPr bwMode="auto">
          <a:xfrm>
            <a:off x="496119" y="402134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350">
                <a:solidFill>
                  <a:srgbClr val="FFFFFF"/>
                </a:solidFill>
                <a:latin typeface="Saira Medium"/>
                <a:ea typeface="Saira Medium"/>
                <a:cs typeface="Saira Medium"/>
              </a:rPr>
              <a:t>Conclusão</a:t>
            </a:r>
            <a:endParaRPr lang="en-US" sz="2350"/>
          </a:p>
        </p:txBody>
      </p:sp>
      <p:sp>
        <p:nvSpPr>
          <p:cNvPr id="1136308918" name="Text 1"/>
          <p:cNvSpPr/>
          <p:nvPr/>
        </p:nvSpPr>
        <p:spPr bwMode="auto">
          <a:xfrm>
            <a:off x="496119" y="939850"/>
            <a:ext cx="472276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9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 projeto demonstra domínio prático de uma stack fullstack moderna, com infraestrutura como código, automação de pipelines e observabilidade básica — competências essenciais para o mercado atual.</a:t>
            </a:r>
            <a:endParaRPr lang="en-US" sz="950"/>
          </a:p>
        </p:txBody>
      </p:sp>
      <p:sp>
        <p:nvSpPr>
          <p:cNvPr id="1802250919" name="Shape 2"/>
          <p:cNvSpPr/>
          <p:nvPr/>
        </p:nvSpPr>
        <p:spPr bwMode="auto">
          <a:xfrm>
            <a:off x="496119" y="1601167"/>
            <a:ext cx="4722763" cy="706562"/>
          </a:xfrm>
          <a:prstGeom prst="roundRect">
            <a:avLst>
              <a:gd name="adj" fmla="val 155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24211803" name="Text 3"/>
          <p:cNvSpPr/>
          <p:nvPr/>
        </p:nvSpPr>
        <p:spPr bwMode="auto">
          <a:xfrm>
            <a:off x="632222" y="1737270"/>
            <a:ext cx="445055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🐳</a:t>
            </a:r>
            <a:r>
              <a:rPr lang="en-US" sz="11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 Docker</a:t>
            </a:r>
            <a:endParaRPr lang="en-US" sz="1150"/>
          </a:p>
        </p:txBody>
      </p:sp>
      <p:sp>
        <p:nvSpPr>
          <p:cNvPr id="1459760990" name="Text 4"/>
          <p:cNvSpPr/>
          <p:nvPr/>
        </p:nvSpPr>
        <p:spPr bwMode="auto">
          <a:xfrm>
            <a:off x="632222" y="1990427"/>
            <a:ext cx="445055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9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Containerização completa e reprodutível</a:t>
            </a:r>
            <a:endParaRPr lang="en-US" sz="950"/>
          </a:p>
        </p:txBody>
      </p:sp>
      <p:sp>
        <p:nvSpPr>
          <p:cNvPr id="1512102247" name="Shape 5"/>
          <p:cNvSpPr/>
          <p:nvPr/>
        </p:nvSpPr>
        <p:spPr bwMode="auto">
          <a:xfrm>
            <a:off x="496119" y="2412355"/>
            <a:ext cx="4722763" cy="706562"/>
          </a:xfrm>
          <a:prstGeom prst="roundRect">
            <a:avLst>
              <a:gd name="adj" fmla="val 155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958443589" name="Text 6"/>
          <p:cNvSpPr/>
          <p:nvPr/>
        </p:nvSpPr>
        <p:spPr bwMode="auto">
          <a:xfrm>
            <a:off x="632222" y="2548458"/>
            <a:ext cx="445055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⚙️</a:t>
            </a:r>
            <a:r>
              <a:rPr lang="en-US" sz="11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 CI/CD</a:t>
            </a:r>
            <a:endParaRPr lang="en-US" sz="1150"/>
          </a:p>
        </p:txBody>
      </p:sp>
      <p:sp>
        <p:nvSpPr>
          <p:cNvPr id="571127461" name="Text 7"/>
          <p:cNvSpPr/>
          <p:nvPr/>
        </p:nvSpPr>
        <p:spPr bwMode="auto">
          <a:xfrm>
            <a:off x="632222" y="2801615"/>
            <a:ext cx="445055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9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Pipeline automatizado no GitHub Actions</a:t>
            </a:r>
            <a:endParaRPr lang="en-US" sz="950"/>
          </a:p>
        </p:txBody>
      </p:sp>
      <p:sp>
        <p:nvSpPr>
          <p:cNvPr id="1480873853" name="Shape 8"/>
          <p:cNvSpPr/>
          <p:nvPr/>
        </p:nvSpPr>
        <p:spPr bwMode="auto">
          <a:xfrm>
            <a:off x="496119" y="3223543"/>
            <a:ext cx="4722763" cy="706562"/>
          </a:xfrm>
          <a:prstGeom prst="roundRect">
            <a:avLst>
              <a:gd name="adj" fmla="val 155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874881176" name="Text 9"/>
          <p:cNvSpPr/>
          <p:nvPr/>
        </p:nvSpPr>
        <p:spPr bwMode="auto">
          <a:xfrm>
            <a:off x="632222" y="3359646"/>
            <a:ext cx="445055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📊</a:t>
            </a:r>
            <a:r>
              <a:rPr lang="en-US" sz="11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 Monitoramento</a:t>
            </a:r>
            <a:endParaRPr lang="en-US" sz="1150"/>
          </a:p>
        </p:txBody>
      </p:sp>
      <p:sp>
        <p:nvSpPr>
          <p:cNvPr id="2089357158" name="Text 10"/>
          <p:cNvSpPr/>
          <p:nvPr/>
        </p:nvSpPr>
        <p:spPr bwMode="auto">
          <a:xfrm>
            <a:off x="632222" y="3612803"/>
            <a:ext cx="445055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9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Logs centralizados e healthcheck</a:t>
            </a:r>
            <a:endParaRPr lang="en-US" sz="950"/>
          </a:p>
        </p:txBody>
      </p:sp>
      <p:sp>
        <p:nvSpPr>
          <p:cNvPr id="1600297037" name="Shape 11"/>
          <p:cNvSpPr/>
          <p:nvPr/>
        </p:nvSpPr>
        <p:spPr bwMode="auto">
          <a:xfrm>
            <a:off x="496119" y="4034730"/>
            <a:ext cx="4722763" cy="706562"/>
          </a:xfrm>
          <a:prstGeom prst="roundRect">
            <a:avLst>
              <a:gd name="adj" fmla="val 155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870136538" name="Text 12"/>
          <p:cNvSpPr/>
          <p:nvPr/>
        </p:nvSpPr>
        <p:spPr bwMode="auto">
          <a:xfrm>
            <a:off x="632222" y="4170834"/>
            <a:ext cx="445055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🔗</a:t>
            </a:r>
            <a:r>
              <a:rPr lang="en-US" sz="1150">
                <a:solidFill>
                  <a:srgbClr val="E5E0DF"/>
                </a:solidFill>
                <a:latin typeface="Saira Medium"/>
                <a:ea typeface="Saira Medium"/>
                <a:cs typeface="Saira Medium"/>
              </a:rPr>
              <a:t> Repositório</a:t>
            </a:r>
            <a:endParaRPr lang="en-US" sz="1150"/>
          </a:p>
        </p:txBody>
      </p:sp>
      <p:sp>
        <p:nvSpPr>
          <p:cNvPr id="813315516" name="Text 13"/>
          <p:cNvSpPr/>
          <p:nvPr/>
        </p:nvSpPr>
        <p:spPr bwMode="auto">
          <a:xfrm>
            <a:off x="632222" y="4423990"/>
            <a:ext cx="445055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9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github.com/DanielManaus/trabalho-uea-fullstack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2026-07-29T22:38:22Z</dcterms:created>
  <dcterms:modified xsi:type="dcterms:W3CDTF">2026-07-29T22:54:15Z</dcterms:modified>
</cp:coreProperties>
</file>